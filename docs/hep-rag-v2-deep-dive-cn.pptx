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65760"/>
            <a:ext cx="11292840" cy="960120"/>
          </a:xfrm>
          <a:prstGeom prst="round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hep-rag-v2：把论文资料整理成可查、可串联、可写作的基础设施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41832"/>
            <a:ext cx="9326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E1E8F3"/>
                </a:solidFill>
                <a:latin typeface="Microsoft YaHei"/>
              </a:rPr>
              <a:t>面向高能物理论文整理、线索追踪和写作准备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65836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一句话结论</a:t>
            </a:r>
          </a:p>
          <a:p>
            <a:pPr/>
            <a:r>
              <a:rPr sz="1500">
                <a:solidFill>
                  <a:srgbClr val="232B3C"/>
                </a:solidFill>
                <a:latin typeface="Microsoft YaHei"/>
              </a:rPr>
              <a:t>现在已经能把论文的题录信息、正文片段、图片、公式和引用关系整理进同一套库里。</a:t>
            </a:r>
          </a:p>
          <a:p>
            <a:pPr/>
            <a:r>
              <a:rPr sz="1500">
                <a:solidFill>
                  <a:srgbClr val="232B3C"/>
                </a:solidFill>
                <a:latin typeface="Microsoft YaHei"/>
              </a:rPr>
              <a:t>底层整理过程主要靠规则和算法完成；大模型放在后面的写作和整理环节，而不是放在入库阶段。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719072"/>
            <a:ext cx="914400" cy="1143000"/>
          </a:xfrm>
          <a:prstGeom prst="roundRect">
            <a:avLst/>
          </a:prstGeom>
          <a:solidFill>
            <a:srgbClr val="E9F1FB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400" b="1">
                <a:solidFill>
                  <a:srgbClr val="18365D"/>
                </a:solidFill>
                <a:latin typeface="Microsoft YaHei"/>
              </a:rPr>
              <a:t>101</a:t>
            </a:r>
          </a:p>
          <a:p>
            <a:r>
              <a:rPr sz="1100">
                <a:solidFill>
                  <a:srgbClr val="606A7A"/>
                </a:solidFill>
                <a:latin typeface="Microsoft YaHei"/>
              </a:rPr>
              <a:t>论文总数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39912" y="1719072"/>
            <a:ext cx="914400" cy="1143000"/>
          </a:xfrm>
          <a:prstGeom prst="roundRect">
            <a:avLst/>
          </a:prstGeom>
          <a:solidFill>
            <a:srgbClr val="EAF6F1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400" b="1">
                <a:solidFill>
                  <a:srgbClr val="18365D"/>
                </a:solidFill>
                <a:latin typeface="Microsoft YaHei"/>
              </a:rPr>
              <a:t>100</a:t>
            </a:r>
          </a:p>
          <a:p>
            <a:r>
              <a:rPr sz="1100">
                <a:solidFill>
                  <a:srgbClr val="606A7A"/>
                </a:solidFill>
                <a:latin typeface="Microsoft YaHei"/>
              </a:rPr>
              <a:t>已整理全文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27464" y="1719072"/>
            <a:ext cx="914400" cy="1143000"/>
          </a:xfrm>
          <a:prstGeom prst="roundRect">
            <a:avLst/>
          </a:prstGeom>
          <a:solidFill>
            <a:srgbClr val="FCF5E5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400" b="1">
                <a:solidFill>
                  <a:srgbClr val="18365D"/>
                </a:solidFill>
                <a:latin typeface="Microsoft YaHei"/>
              </a:rPr>
              <a:t>3,703</a:t>
            </a:r>
          </a:p>
          <a:p>
            <a:r>
              <a:rPr sz="1100">
                <a:solidFill>
                  <a:srgbClr val="606A7A"/>
                </a:solidFill>
                <a:latin typeface="Microsoft YaHei"/>
              </a:rPr>
              <a:t>可检索片段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15016" y="1719072"/>
            <a:ext cx="914400" cy="1143000"/>
          </a:xfrm>
          <a:prstGeom prst="roundRect">
            <a:avLst/>
          </a:prstGeom>
          <a:solidFill>
            <a:srgbClr val="FCEEEE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400" b="1">
                <a:solidFill>
                  <a:srgbClr val="18365D"/>
                </a:solidFill>
                <a:latin typeface="Microsoft YaHei"/>
              </a:rPr>
              <a:t>3,862</a:t>
            </a:r>
          </a:p>
          <a:p>
            <a:r>
              <a:rPr sz="1100">
                <a:solidFill>
                  <a:srgbClr val="606A7A"/>
                </a:solidFill>
                <a:latin typeface="Microsoft YaHei"/>
              </a:rPr>
              <a:t>引用条目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94760"/>
            <a:ext cx="11064240" cy="914400"/>
          </a:xfrm>
          <a:prstGeom prst="roundRect">
            <a:avLst/>
          </a:prstGeom>
          <a:solidFill>
            <a:srgbClr val="E9F1FB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当前边界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默认不让大模型参与入库、清洗、分段和建立论文关系。大模型主要留给后面的检索辅助、证据整理和写作辅助。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83480"/>
            <a:ext cx="2194560" cy="1097280"/>
          </a:xfrm>
          <a:prstGeom prst="roundRect">
            <a:avLst/>
          </a:prstGeom>
          <a:solidFill>
            <a:srgbClr val="EAF6F1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400" b="1">
                <a:solidFill>
                  <a:srgbClr val="18365D"/>
                </a:solidFill>
                <a:latin typeface="Microsoft YaHei"/>
              </a:rPr>
              <a:t>87/100</a:t>
            </a:r>
          </a:p>
          <a:p>
            <a:r>
              <a:rPr sz="1100">
                <a:solidFill>
                  <a:srgbClr val="606A7A"/>
                </a:solidFill>
                <a:latin typeface="Microsoft YaHei"/>
              </a:rPr>
              <a:t>可进入下一步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4983480"/>
            <a:ext cx="2286000" cy="1097280"/>
          </a:xfrm>
          <a:prstGeom prst="roundRect">
            <a:avLst/>
          </a:prstGeom>
          <a:solidFill>
            <a:srgbClr val="E9F1FB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400" b="1">
                <a:solidFill>
                  <a:srgbClr val="18365D"/>
                </a:solidFill>
                <a:latin typeface="Microsoft YaHei"/>
              </a:rPr>
              <a:t>70</a:t>
            </a:r>
          </a:p>
          <a:p>
            <a:r>
              <a:rPr sz="1100">
                <a:solidFill>
                  <a:srgbClr val="606A7A"/>
                </a:solidFill>
                <a:latin typeface="Microsoft YaHei"/>
              </a:rPr>
              <a:t>已连上的引用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4983480"/>
            <a:ext cx="2560320" cy="1097280"/>
          </a:xfrm>
          <a:prstGeom prst="roundRect">
            <a:avLst/>
          </a:prstGeom>
          <a:solidFill>
            <a:srgbClr val="FCF5E5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400" b="1">
                <a:solidFill>
                  <a:srgbClr val="18365D"/>
                </a:solidFill>
                <a:latin typeface="Microsoft YaHei"/>
              </a:rPr>
              <a:t>128</a:t>
            </a:r>
          </a:p>
          <a:p>
            <a:r>
              <a:rPr sz="1100">
                <a:solidFill>
                  <a:srgbClr val="606A7A"/>
                </a:solidFill>
                <a:latin typeface="Microsoft YaHei"/>
              </a:rPr>
              <a:t>共享参考文献关系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4983480"/>
            <a:ext cx="2011680" cy="1097280"/>
          </a:xfrm>
          <a:prstGeom prst="roundRect">
            <a:avLst/>
          </a:prstGeom>
          <a:solidFill>
            <a:srgbClr val="FCEEEE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400" b="1">
                <a:solidFill>
                  <a:srgbClr val="18365D"/>
                </a:solidFill>
                <a:latin typeface="Microsoft YaHei"/>
              </a:rPr>
              <a:t>21</a:t>
            </a:r>
          </a:p>
          <a:p>
            <a:r>
              <a:rPr sz="1100">
                <a:solidFill>
                  <a:srgbClr val="606A7A"/>
                </a:solidFill>
                <a:latin typeface="Microsoft YaHei"/>
              </a:rPr>
              <a:t>共同被引关系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8365D"/>
                </a:solidFill>
                <a:latin typeface="Microsoft YaHei"/>
              </a:rPr>
              <a:t>1. 先讲问题：这套东西是拿来做什么的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064240" cy="36576"/>
          </a:xfrm>
          <a:prstGeom prst="rect">
            <a:avLst/>
          </a:prstGeom>
          <a:solidFill>
            <a:srgbClr val="2A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606A7A"/>
                </a:solidFill>
                <a:latin typeface="Microsoft YaHei"/>
              </a:rPr>
              <a:t>先讲用途，再讲技术。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2578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它要解决的核心问题</a:t>
            </a:r>
          </a:p>
          <a:p>
            <a:pPr/>
            <a:r>
              <a:rPr sz="1600">
                <a:solidFill>
                  <a:srgbClr val="232B3C"/>
                </a:solidFill>
                <a:latin typeface="Microsoft YaHei"/>
              </a:rPr>
              <a:t>给研究者一套能持续扩量的论文资料底座</a:t>
            </a:r>
          </a:p>
          <a:p>
            <a:pPr/>
            <a:r>
              <a:rPr sz="1600">
                <a:solidFill>
                  <a:srgbClr val="232B3C"/>
                </a:solidFill>
                <a:latin typeface="Microsoft YaHei"/>
              </a:rPr>
              <a:t>支持找同主题论文、追踪引用线索、做专题综述、整理方法路线</a:t>
            </a:r>
          </a:p>
          <a:p>
            <a:pPr/>
            <a:r>
              <a:rPr sz="1600">
                <a:solidFill>
                  <a:srgbClr val="232B3C"/>
                </a:solidFill>
                <a:latin typeface="Microsoft YaHei"/>
              </a:rPr>
              <a:t>未来目标规模可以到大约 100k 篇，所以不能一开始就要求每篇都做昂贵全文处理</a:t>
            </a:r>
          </a:p>
          <a:p>
            <a:pPr/>
            <a:r>
              <a:rPr sz="1600">
                <a:solidFill>
                  <a:srgbClr val="232B3C"/>
                </a:solidFill>
                <a:latin typeface="Microsoft YaHei"/>
              </a:rPr>
              <a:t>要把“大规模收集文献信息”和“精细整理全文证据”分开处理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325880"/>
            <a:ext cx="56235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为什么不能只堆 PDF 然后搜关键词</a:t>
            </a:r>
          </a:p>
          <a:p>
            <a:pPr/>
            <a:r>
              <a:rPr sz="1600">
                <a:solidFill>
                  <a:srgbClr val="232B3C"/>
                </a:solidFill>
                <a:latin typeface="Microsoft YaHei"/>
              </a:rPr>
              <a:t>标题、作者、正文、图注、公式、参考文献会混在一起</a:t>
            </a:r>
          </a:p>
          <a:p>
            <a:pPr/>
            <a:r>
              <a:rPr sz="1600">
                <a:solidFill>
                  <a:srgbClr val="232B3C"/>
                </a:solidFill>
                <a:latin typeface="Microsoft YaHei"/>
              </a:rPr>
              <a:t>PDF/LaTeX 解析有大量噪声：空格断裂、符号拆散、公式命令残留</a:t>
            </a:r>
          </a:p>
          <a:p>
            <a:pPr/>
            <a:r>
              <a:rPr sz="1600">
                <a:solidFill>
                  <a:srgbClr val="232B3C"/>
                </a:solidFill>
                <a:latin typeface="Microsoft YaHei"/>
              </a:rPr>
              <a:t>检索命中后，不知道这一段是不是可作为证据引用的正文</a:t>
            </a:r>
          </a:p>
          <a:p>
            <a:pPr/>
            <a:r>
              <a:rPr sz="1600">
                <a:solidFill>
                  <a:srgbClr val="232B3C"/>
                </a:solidFill>
                <a:latin typeface="Microsoft YaHei"/>
              </a:rPr>
              <a:t>单纯关键词搜索缺少论文之间的结构关系，无法自然扩展到近邻工作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715000"/>
            <a:ext cx="2971800" cy="685800"/>
          </a:xfrm>
          <a:prstGeom prst="roundRect">
            <a:avLst/>
          </a:prstGeom>
          <a:solidFill>
            <a:srgbClr val="E9F1FB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/>
            <a:r>
              <a:rPr sz="1500" b="1">
                <a:solidFill>
                  <a:srgbClr val="18365D"/>
                </a:solidFill>
                <a:latin typeface="Microsoft YaHei"/>
              </a:rPr>
              <a:t>路线 A：先铺开文献信息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先整理标题、摘要、作者和参考文献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5715000"/>
            <a:ext cx="2971800" cy="685800"/>
          </a:xfrm>
          <a:prstGeom prst="roundRect">
            <a:avLst/>
          </a:prstGeom>
          <a:solidFill>
            <a:srgbClr val="EAF6F1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/>
            <a:r>
              <a:rPr sz="1500" b="1">
                <a:solidFill>
                  <a:srgbClr val="18365D"/>
                </a:solidFill>
                <a:latin typeface="Microsoft YaHei"/>
              </a:rPr>
              <a:t>路线 B：全文只做重点子集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把正文、图片、公式整理成可检索证据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5715000"/>
            <a:ext cx="3246120" cy="685800"/>
          </a:xfrm>
          <a:prstGeom prst="roundRect">
            <a:avLst/>
          </a:prstGeom>
          <a:solidFill>
            <a:srgbClr val="FCF5E5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/>
            <a:r>
              <a:rPr sz="1500" b="1">
                <a:solidFill>
                  <a:srgbClr val="18365D"/>
                </a:solidFill>
                <a:latin typeface="Microsoft YaHei"/>
              </a:rPr>
              <a:t>路线 C：写作辅助以后再接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放在应用层，不直接改底层事实库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8365D"/>
                </a:solidFill>
                <a:latin typeface="Microsoft YaHei"/>
              </a:rPr>
              <a:t>2. 一页看完整件事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064240" cy="36576"/>
          </a:xfrm>
          <a:prstGeom prst="rect">
            <a:avLst/>
          </a:prstGeom>
          <a:solidFill>
            <a:srgbClr val="2A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606A7A"/>
                </a:solidFill>
                <a:latin typeface="Microsoft YaHei"/>
              </a:rPr>
              <a:t>前 5 步不依赖大模型。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103120"/>
            <a:ext cx="1737360" cy="1325880"/>
          </a:xfrm>
          <a:prstGeom prst="roundRect">
            <a:avLst/>
          </a:prstGeom>
          <a:solidFill>
            <a:srgbClr val="E9F1FB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/>
            <a:r>
              <a:rPr sz="1500" b="1">
                <a:solidFill>
                  <a:srgbClr val="18365D"/>
                </a:solidFill>
                <a:latin typeface="Microsoft YaHei"/>
              </a:rPr>
              <a:t>收集输入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文献信息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全文解析结果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48840" y="2770632"/>
            <a:ext cx="182880" cy="0"/>
          </a:xfrm>
          <a:prstGeom prst="line">
            <a:avLst/>
          </a:prstGeom>
          <a:ln w="27940">
            <a:solidFill>
              <a:srgbClr val="2A6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31720" y="2103120"/>
            <a:ext cx="1737360" cy="1325880"/>
          </a:xfrm>
          <a:prstGeom prst="roundRect">
            <a:avLst/>
          </a:prstGeom>
          <a:solidFill>
            <a:srgbClr val="EAF6F1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/>
            <a:r>
              <a:rPr sz="1500" b="1">
                <a:solidFill>
                  <a:srgbClr val="18365D"/>
                </a:solidFill>
                <a:latin typeface="Microsoft YaHei"/>
              </a:rPr>
              <a:t>整理论文卡片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编号、题目、作者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摘要、参考文献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69080" y="2770632"/>
            <a:ext cx="182880" cy="0"/>
          </a:xfrm>
          <a:prstGeom prst="line">
            <a:avLst/>
          </a:prstGeom>
          <a:ln w="27940">
            <a:solidFill>
              <a:srgbClr val="2A6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51960" y="2103120"/>
            <a:ext cx="1737360" cy="1325880"/>
          </a:xfrm>
          <a:prstGeom prst="roundRect">
            <a:avLst/>
          </a:prstGeom>
          <a:solidFill>
            <a:srgbClr val="FCF5E5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/>
            <a:r>
              <a:rPr sz="1500" b="1">
                <a:solidFill>
                  <a:srgbClr val="18365D"/>
                </a:solidFill>
                <a:latin typeface="Microsoft YaHei"/>
              </a:rPr>
              <a:t>整理全文结构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章节、页面片段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图片、公式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89320" y="2770632"/>
            <a:ext cx="182880" cy="0"/>
          </a:xfrm>
          <a:prstGeom prst="line">
            <a:avLst/>
          </a:prstGeom>
          <a:ln w="27940">
            <a:solidFill>
              <a:srgbClr val="2A6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72200" y="2103120"/>
            <a:ext cx="1737360" cy="1325880"/>
          </a:xfrm>
          <a:prstGeom prst="roundRect">
            <a:avLst/>
          </a:prstGeom>
          <a:solidFill>
            <a:srgbClr val="FCEEEE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/>
            <a:r>
              <a:rPr sz="1500" b="1">
                <a:solidFill>
                  <a:srgbClr val="18365D"/>
                </a:solidFill>
                <a:latin typeface="Microsoft YaHei"/>
              </a:rPr>
              <a:t>清洗文字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去引用残留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修解析噪声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09560" y="2770632"/>
            <a:ext cx="182880" cy="0"/>
          </a:xfrm>
          <a:prstGeom prst="line">
            <a:avLst/>
          </a:prstGeom>
          <a:ln w="27940">
            <a:solidFill>
              <a:srgbClr val="2A6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92440" y="2103120"/>
            <a:ext cx="1737360" cy="1325880"/>
          </a:xfrm>
          <a:prstGeom prst="roundRect">
            <a:avLst/>
          </a:prstGeom>
          <a:solidFill>
            <a:srgbClr val="E9F1FB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/>
            <a:r>
              <a:rPr sz="1500" b="1">
                <a:solidFill>
                  <a:srgbClr val="18365D"/>
                </a:solidFill>
                <a:latin typeface="Microsoft YaHei"/>
              </a:rPr>
              <a:t>生成检索片段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整节概览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局部证据片段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29800" y="2770632"/>
            <a:ext cx="182880" cy="0"/>
          </a:xfrm>
          <a:prstGeom prst="line">
            <a:avLst/>
          </a:prstGeom>
          <a:ln w="27940">
            <a:solidFill>
              <a:srgbClr val="2A6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012680" y="2103120"/>
            <a:ext cx="1737360" cy="1325880"/>
          </a:xfrm>
          <a:prstGeom prst="roundRect">
            <a:avLst/>
          </a:prstGeom>
          <a:solidFill>
            <a:srgbClr val="EAF6F1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/>
            <a:r>
              <a:rPr sz="1500" b="1">
                <a:solidFill>
                  <a:srgbClr val="18365D"/>
                </a:solidFill>
                <a:latin typeface="Microsoft YaHei"/>
              </a:rPr>
              <a:t>补上论文关系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相近论文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引用网络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60520"/>
            <a:ext cx="374903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当前已经落地的部分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文献信息入库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全文结构整理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规则化文字清洗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关键词检索加论文关系扩展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416052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当前明确不做的事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不用大模型自动切块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不用大模型自动建图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不让模型直接改原始事实库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不把参考文献正文混进主检索流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16052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下一阶段再加的能力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向量表示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检索意图整理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证据压缩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综述和写作辅助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8365D"/>
                </a:solidFill>
                <a:latin typeface="Microsoft YaHei"/>
              </a:rPr>
              <a:t>3. 用一篇真实论文把故事讲清楚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064240" cy="36576"/>
          </a:xfrm>
          <a:prstGeom prst="rect">
            <a:avLst/>
          </a:prstGeom>
          <a:solidFill>
            <a:srgbClr val="2A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606A7A"/>
                </a:solidFill>
                <a:latin typeface="Microsoft YaHei"/>
              </a:rPr>
              <a:t>所有层级和数字都来自当前数据库。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6400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例子：一篇研究 H -&gt; aa -&gt; 4γ 的 CMS 论文</a:t>
            </a:r>
          </a:p>
          <a:p>
            <a:pPr/>
            <a:r>
              <a:rPr sz="1200">
                <a:solidFill>
                  <a:srgbClr val="232B3C"/>
                </a:solidFill>
                <a:latin typeface="Microsoft YaHei"/>
              </a:rPr>
              <a:t>Search for the exotic decay of the Higgs boson into two light</a:t>
            </a:r>
          </a:p>
          <a:p>
            <a:pPr/>
            <a:r>
              <a:rPr sz="1200">
                <a:solidFill>
                  <a:srgbClr val="232B3C"/>
                </a:solidFill>
                <a:latin typeface="Microsoft YaHei"/>
              </a:rPr>
              <a:t>pseudoscalars with four photons in the final state in proton-proton</a:t>
            </a:r>
          </a:p>
          <a:p>
            <a:pPr/>
            <a:r>
              <a:rPr sz="1200">
                <a:solidFill>
                  <a:srgbClr val="232B3C"/>
                </a:solidFill>
                <a:latin typeface="Microsoft YaHei"/>
              </a:rPr>
              <a:t>collisions at sqrt s = 13 TeV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1234440" cy="960120"/>
          </a:xfrm>
          <a:prstGeom prst="roundRect">
            <a:avLst/>
          </a:prstGeom>
          <a:solidFill>
            <a:srgbClr val="E9F1FB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400" b="1">
                <a:solidFill>
                  <a:srgbClr val="18365D"/>
                </a:solidFill>
                <a:latin typeface="Microsoft YaHei"/>
              </a:rPr>
              <a:t>2023</a:t>
            </a:r>
          </a:p>
          <a:p>
            <a:r>
              <a:rPr sz="1100">
                <a:solidFill>
                  <a:srgbClr val="606A7A"/>
                </a:solidFill>
                <a:latin typeface="Microsoft YaHei"/>
              </a:rPr>
              <a:t>年份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2560320"/>
            <a:ext cx="1234440" cy="960120"/>
          </a:xfrm>
          <a:prstGeom prst="roundRect">
            <a:avLst/>
          </a:prstGeom>
          <a:solidFill>
            <a:srgbClr val="EAF6F1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400" b="1">
                <a:solidFill>
                  <a:srgbClr val="18365D"/>
                </a:solidFill>
                <a:latin typeface="Microsoft YaHei"/>
              </a:rPr>
              <a:t>17</a:t>
            </a:r>
          </a:p>
          <a:p>
            <a:r>
              <a:rPr sz="1100">
                <a:solidFill>
                  <a:srgbClr val="606A7A"/>
                </a:solidFill>
                <a:latin typeface="Microsoft YaHei"/>
              </a:rPr>
              <a:t>章节数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560320"/>
            <a:ext cx="1234440" cy="960120"/>
          </a:xfrm>
          <a:prstGeom prst="roundRect">
            <a:avLst/>
          </a:prstGeom>
          <a:solidFill>
            <a:srgbClr val="FCF5E5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400" b="1">
                <a:solidFill>
                  <a:srgbClr val="18365D"/>
                </a:solidFill>
                <a:latin typeface="Microsoft YaHei"/>
              </a:rPr>
              <a:t>437</a:t>
            </a:r>
          </a:p>
          <a:p>
            <a:r>
              <a:rPr sz="1100">
                <a:solidFill>
                  <a:srgbClr val="606A7A"/>
                </a:solidFill>
                <a:latin typeface="Microsoft YaHei"/>
              </a:rPr>
              <a:t>页面片段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03320"/>
            <a:ext cx="1234440" cy="960120"/>
          </a:xfrm>
          <a:prstGeom prst="roundRect">
            <a:avLst/>
          </a:prstGeom>
          <a:solidFill>
            <a:srgbClr val="FCEEEE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400" b="1">
                <a:solidFill>
                  <a:srgbClr val="18365D"/>
                </a:solidFill>
                <a:latin typeface="Microsoft YaHei"/>
              </a:rPr>
              <a:t>48</a:t>
            </a:r>
          </a:p>
          <a:p>
            <a:r>
              <a:rPr sz="1100">
                <a:solidFill>
                  <a:srgbClr val="606A7A"/>
                </a:solidFill>
                <a:latin typeface="Microsoft YaHei"/>
              </a:rPr>
              <a:t>检索片段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7400" y="3703320"/>
            <a:ext cx="1234440" cy="960120"/>
          </a:xfrm>
          <a:prstGeom prst="roundRect">
            <a:avLst/>
          </a:prstGeom>
          <a:solidFill>
            <a:srgbClr val="E9F1FB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400" b="1">
                <a:solidFill>
                  <a:srgbClr val="18365D"/>
                </a:solidFill>
                <a:latin typeface="Microsoft YaHei"/>
              </a:rPr>
              <a:t>8</a:t>
            </a:r>
          </a:p>
          <a:p>
            <a:r>
              <a:rPr sz="1100">
                <a:solidFill>
                  <a:srgbClr val="606A7A"/>
                </a:solidFill>
                <a:latin typeface="Microsoft YaHei"/>
              </a:rPr>
              <a:t>图片表格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3703320"/>
            <a:ext cx="1234440" cy="960120"/>
          </a:xfrm>
          <a:prstGeom prst="roundRect">
            <a:avLst/>
          </a:prstGeom>
          <a:solidFill>
            <a:srgbClr val="EAF6F1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400" b="1">
                <a:solidFill>
                  <a:srgbClr val="18365D"/>
                </a:solidFill>
                <a:latin typeface="Microsoft YaHei"/>
              </a:rPr>
              <a:t>60</a:t>
            </a:r>
          </a:p>
          <a:p>
            <a:r>
              <a:rPr sz="1100">
                <a:solidFill>
                  <a:srgbClr val="606A7A"/>
                </a:solidFill>
                <a:latin typeface="Microsoft YaHei"/>
              </a:rPr>
              <a:t>参考文献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5010912"/>
            <a:ext cx="6355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摘要里已经能看到未来检索的“证据句”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A search for the exotic decay of the Higgs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boson to a pair of light pseudoscalars, each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of which subsequently decays into a pair of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photons, is presented. The search uses data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from proton-proton collisions at $ \sqrt{s}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$ = 13 TeV recorded with the CMS detector at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the LHC that corresponds to an integrated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luminosity of 132 fb$^…</a:t>
            </a:r>
          </a:p>
        </p:txBody>
      </p:sp>
      <p:pic>
        <p:nvPicPr>
          <p:cNvPr id="13" name="Picture 12" descr="46808a2543c78a3dd7972034c68ee8ef6b88607607a805325dce6ca612ac8b2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417320"/>
            <a:ext cx="3931920" cy="249268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995160" y="5010912"/>
            <a:ext cx="4297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这张图为什么重要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它不会孤零零留在图片文件夹里，而是和前后正文一起进入库中。这样后面既能按图片找，也能把相关说明一起带出来。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8365D"/>
                </a:solidFill>
                <a:latin typeface="Microsoft YaHei"/>
              </a:rPr>
              <a:t>4. 这篇论文在库里会经历哪些层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064240" cy="36576"/>
          </a:xfrm>
          <a:prstGeom prst="rect">
            <a:avLst/>
          </a:prstGeom>
          <a:solidFill>
            <a:srgbClr val="2A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606A7A"/>
                </a:solidFill>
                <a:latin typeface="Microsoft YaHei"/>
              </a:rPr>
              <a:t>从文献卡片，到可检索片段，再到论文关系。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1600200" cy="1051560"/>
          </a:xfrm>
          <a:prstGeom prst="roundRect">
            <a:avLst/>
          </a:prstGeom>
          <a:solidFill>
            <a:srgbClr val="E9F1FB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/>
            <a:r>
              <a:rPr sz="1500" b="1">
                <a:solidFill>
                  <a:srgbClr val="18365D"/>
                </a:solidFill>
                <a:latin typeface="Microsoft YaHei"/>
              </a:rPr>
              <a:t>文献卡片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题目、摘要、年份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参考文献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1508760"/>
            <a:ext cx="1600200" cy="1051560"/>
          </a:xfrm>
          <a:prstGeom prst="roundRect">
            <a:avLst/>
          </a:prstGeom>
          <a:solidFill>
            <a:srgbClr val="EAF6F1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/>
            <a:r>
              <a:rPr sz="1500" b="1">
                <a:solidFill>
                  <a:srgbClr val="18365D"/>
                </a:solidFill>
                <a:latin typeface="Microsoft YaHei"/>
              </a:rPr>
              <a:t>全文记录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一份可处理的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论文全文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508760"/>
            <a:ext cx="1600200" cy="1051560"/>
          </a:xfrm>
          <a:prstGeom prst="roundRect">
            <a:avLst/>
          </a:prstGeom>
          <a:solidFill>
            <a:srgbClr val="FCF5E5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/>
            <a:r>
              <a:rPr sz="1500" b="1">
                <a:solidFill>
                  <a:srgbClr val="18365D"/>
                </a:solidFill>
                <a:latin typeface="Microsoft YaHei"/>
              </a:rPr>
              <a:t>章节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17 个章节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摘要、引言等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508760"/>
            <a:ext cx="1600200" cy="1051560"/>
          </a:xfrm>
          <a:prstGeom prst="roundRect">
            <a:avLst/>
          </a:prstGeom>
          <a:solidFill>
            <a:srgbClr val="FCEEEE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/>
            <a:r>
              <a:rPr sz="1500" b="1">
                <a:solidFill>
                  <a:srgbClr val="18365D"/>
                </a:solidFill>
                <a:latin typeface="Microsoft YaHei"/>
              </a:rPr>
              <a:t>页面片段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437 个小片段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文字、图片、公式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508760"/>
            <a:ext cx="1600200" cy="1051560"/>
          </a:xfrm>
          <a:prstGeom prst="roundRect">
            <a:avLst/>
          </a:prstGeom>
          <a:solidFill>
            <a:srgbClr val="E9F1FB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/>
            <a:r>
              <a:rPr sz="1500" b="1">
                <a:solidFill>
                  <a:srgbClr val="18365D"/>
                </a:solidFill>
                <a:latin typeface="Microsoft YaHei"/>
              </a:rPr>
              <a:t>检索片段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48 个可用片段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按用途重组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1508760"/>
            <a:ext cx="2057400" cy="1051560"/>
          </a:xfrm>
          <a:prstGeom prst="roundRect">
            <a:avLst/>
          </a:prstGeom>
          <a:solidFill>
            <a:srgbClr val="EAF6F1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/>
            <a:r>
              <a:rPr sz="1500" b="1">
                <a:solidFill>
                  <a:srgbClr val="18365D"/>
                </a:solidFill>
                <a:latin typeface="Microsoft YaHei"/>
              </a:rPr>
              <a:t>论文关系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60 条引用线索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连接相关论文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80" y="2029967"/>
            <a:ext cx="228600" cy="0"/>
          </a:xfrm>
          <a:prstGeom prst="line">
            <a:avLst/>
          </a:prstGeom>
          <a:ln w="27940">
            <a:solidFill>
              <a:srgbClr val="2A6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40480" y="2029967"/>
            <a:ext cx="228600" cy="0"/>
          </a:xfrm>
          <a:prstGeom prst="line">
            <a:avLst/>
          </a:prstGeom>
          <a:ln w="27940">
            <a:solidFill>
              <a:srgbClr val="2A6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669280" y="2029967"/>
            <a:ext cx="228600" cy="0"/>
          </a:xfrm>
          <a:prstGeom prst="line">
            <a:avLst/>
          </a:prstGeom>
          <a:ln w="27940">
            <a:solidFill>
              <a:srgbClr val="2A6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98079" y="2029967"/>
            <a:ext cx="228600" cy="0"/>
          </a:xfrm>
          <a:prstGeom prst="line">
            <a:avLst/>
          </a:prstGeom>
          <a:ln w="27940">
            <a:solidFill>
              <a:srgbClr val="2A6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326880" y="2029967"/>
            <a:ext cx="228600" cy="0"/>
          </a:xfrm>
          <a:prstGeom prst="line">
            <a:avLst/>
          </a:prstGeom>
          <a:ln w="27940">
            <a:solidFill>
              <a:srgbClr val="2A6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2920" y="2971800"/>
            <a:ext cx="36118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页面片段层的真实内容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57969 | 文字 | 第 2 页 | 1 Introduction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57970 | 文字 | 第 2 页 | In 2012, a Higgs boson (H) with a mass of 125 GeV w…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57972 | 图片 | 第 2 页 | Figure 1: Feynman diagram for a BSM decay of the Hi…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58013 | 公式 | 第 9 页 | AMS = sqrt 2 [(S + B) ln (1 + frac SB) - S].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2971800"/>
            <a:ext cx="23317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可检索片段的几种类型</a:t>
            </a:r>
          </a:p>
          <a:p>
            <a:pPr/>
            <a:r>
              <a:rPr sz="1200">
                <a:solidFill>
                  <a:srgbClr val="232B3C"/>
                </a:solidFill>
                <a:latin typeface="Microsoft YaHei"/>
              </a:rPr>
              <a:t>摘要片段：1</a:t>
            </a:r>
          </a:p>
          <a:p>
            <a:pPr/>
            <a:r>
              <a:rPr sz="1200">
                <a:solidFill>
                  <a:srgbClr val="232B3C"/>
                </a:solidFill>
                <a:latin typeface="Microsoft YaHei"/>
              </a:rPr>
              <a:t>图片表格上下文：8</a:t>
            </a:r>
          </a:p>
          <a:p>
            <a:pPr/>
            <a:r>
              <a:rPr sz="1200">
                <a:solidFill>
                  <a:srgbClr val="232B3C"/>
                </a:solidFill>
                <a:latin typeface="Microsoft YaHei"/>
              </a:rPr>
              <a:t>公式上下文：2</a:t>
            </a:r>
          </a:p>
          <a:p>
            <a:pPr/>
            <a:r>
              <a:rPr sz="1200">
                <a:solidFill>
                  <a:srgbClr val="232B3C"/>
                </a:solidFill>
                <a:latin typeface="Microsoft YaHei"/>
              </a:rPr>
              <a:t>局部正文片段：24</a:t>
            </a:r>
          </a:p>
          <a:p>
            <a:pPr/>
            <a:r>
              <a:rPr sz="1200">
                <a:solidFill>
                  <a:srgbClr val="232B3C"/>
                </a:solidFill>
                <a:latin typeface="Microsoft YaHei"/>
              </a:rPr>
              <a:t>整节概览：13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2971800"/>
            <a:ext cx="47548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最简单的理解</a:t>
            </a:r>
          </a:p>
          <a:p>
            <a:pPr/>
            <a:r>
              <a:rPr sz="1200">
                <a:solidFill>
                  <a:srgbClr val="232B3C"/>
                </a:solidFill>
                <a:latin typeface="Microsoft YaHei"/>
              </a:rPr>
              <a:t>同一篇论文不会直接变成“一整条长文本”。</a:t>
            </a:r>
          </a:p>
          <a:p>
            <a:pPr/>
            <a:r>
              <a:rPr sz="1200">
                <a:solidFill>
                  <a:srgbClr val="232B3C"/>
                </a:solidFill>
                <a:latin typeface="Microsoft YaHei"/>
              </a:rPr>
              <a:t>它会先被拆成章节和页面片段，再按照用途重新整理成几种可检索片段：</a:t>
            </a:r>
          </a:p>
          <a:p>
            <a:pPr/>
            <a:r>
              <a:rPr sz="1200">
                <a:solidFill>
                  <a:srgbClr val="232B3C"/>
                </a:solidFill>
                <a:latin typeface="Microsoft YaHei"/>
              </a:rPr>
              <a:t>有的负责整节概览，有的负责局部证据，有的专门把图片或公式前后的说明保留下来。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532120"/>
            <a:ext cx="11064240" cy="658368"/>
          </a:xfrm>
          <a:prstGeom prst="roundRect">
            <a:avLst/>
          </a:prstGeom>
          <a:solidFill>
            <a:srgbClr val="E9F1FB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一句话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你可以把它理解为：一篇论文先被拆成很多有明确用途的小片段，再和其他论文通过引用关系连接起来。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8365D"/>
                </a:solidFill>
                <a:latin typeface="Microsoft YaHei"/>
              </a:rPr>
              <a:t>5. 第一步：先把文献信息和引用关系整理好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064240" cy="36576"/>
          </a:xfrm>
          <a:prstGeom prst="rect">
            <a:avLst/>
          </a:prstGeom>
          <a:solidFill>
            <a:srgbClr val="2A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606A7A"/>
                </a:solidFill>
                <a:latin typeface="Microsoft YaHei"/>
              </a:rPr>
              <a:t>这一步还没有处理全文正文。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46634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文献信息整理的核心规则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先给每篇论文确定一个稳定身份，优先用 INSPIRE 编号，其次用 arXiv 和 DOI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把题目、摘要、作者、合作组、期刊和主题词整理进对应表里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把论文自带的参考文献一条条写进引用关系表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按目标编号去重，避免同一条参考文献重复写入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如果被引用的论文已经在库里，就直接把两篇论文连起来；暂时找不到的先记下来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49240" y="1325880"/>
            <a:ext cx="28803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论文关系怎么建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第一种：两篇论文引用了很多相同的前人工作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第二种：很多后来的论文总是同时提到它们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共同条目越多，两篇论文越可能属于同一条研究线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小型试验库阈值可以放松；规模变大后再收紧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66760" y="1353312"/>
          <a:ext cx="292608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731520"/>
                <a:gridCol w="731520"/>
                <a:gridCol w="731520"/>
              </a:tblGrid>
              <a:tr h="525780">
                <a:tc>
                  <a:txBody>
                    <a:bodyPr wrap="square" anchor="t" lIns="45720" rIns="4572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相关论文</a:t>
                      </a:r>
                    </a:p>
                  </a:txBody>
                  <a:tcPr>
                    <a:solidFill>
                      <a:srgbClr val="18365D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关系</a:t>
                      </a:r>
                    </a:p>
                  </a:txBody>
                  <a:tcPr>
                    <a:solidFill>
                      <a:srgbClr val="18365D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共同条目</a:t>
                      </a:r>
                    </a:p>
                  </a:txBody>
                  <a:tcPr>
                    <a:solidFill>
                      <a:srgbClr val="18365D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紧密度</a:t>
                      </a:r>
                    </a:p>
                  </a:txBody>
                  <a:tcPr>
                    <a:solidFill>
                      <a:srgbClr val="18365D"/>
                    </a:solidFill>
                  </a:tcPr>
                </a:tc>
              </a:tr>
              <a:tr h="525780"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1709317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共参考文献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1744267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共参考文献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0.87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1674926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共参考文献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2151007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共被引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1744267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共被引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754880"/>
            <a:ext cx="10972800" cy="1280160"/>
          </a:xfrm>
          <a:prstGeom prst="roundRect">
            <a:avLst/>
          </a:prstGeom>
          <a:solidFill>
            <a:srgbClr val="EAF6F1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这个例子里发生了什么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这篇论文本身带有 60 条引用线索。把这些线索补齐以后，系统就能自然连到同主题的 H-&gt;aa 系列工作。对现在这 101 篇试验语料来说，这比只搜标题和摘要更适合做专题梳理。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8365D"/>
                </a:solidFill>
                <a:latin typeface="Microsoft YaHei"/>
              </a:rPr>
              <a:t>6. 第二步：把全文整理成章节、页面片段、图片和公式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064240" cy="36576"/>
          </a:xfrm>
          <a:prstGeom prst="rect">
            <a:avLst/>
          </a:prstGeom>
          <a:solidFill>
            <a:srgbClr val="2A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606A7A"/>
                </a:solidFill>
                <a:latin typeface="Microsoft YaHei"/>
              </a:rPr>
              <a:t>这里使用 MinerU 的解析结果，但后面还会再做规则判断。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749039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全文是怎样被整理出结构的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逐条读取 MinerU 解析出来的内容列表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先判断每一小块是文字、图片、表格还是公式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再判断这块像不像标题，能不能作为新章节的开头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系统会根据当前位置判断自己已经进入摘要、正文还是参考文献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每遇到新标题，就在库里新建一个章节节点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325880"/>
            <a:ext cx="27432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保留什么，排除什么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标题、封面信息、参考文献和后记都会保留在库里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但这些默认不进主检索流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公式会单独登记成公式记录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图片和表格会单独登记成图表记录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正文页面片段才是后面重组检索片段的主要输入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60920" y="1371600"/>
          <a:ext cx="402336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</a:tblGrid>
              <a:tr h="777240">
                <a:tc>
                  <a:txBody>
                    <a:bodyPr wrap="square" anchor="t" lIns="45720" rIns="4572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片段编号</a:t>
                      </a:r>
                    </a:p>
                  </a:txBody>
                  <a:tcPr>
                    <a:solidFill>
                      <a:srgbClr val="18365D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类型</a:t>
                      </a:r>
                    </a:p>
                  </a:txBody>
                  <a:tcPr>
                    <a:solidFill>
                      <a:srgbClr val="18365D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>
                    <a:solidFill>
                      <a:srgbClr val="18365D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例子</a:t>
                      </a:r>
                    </a:p>
                  </a:txBody>
                  <a:tcPr>
                    <a:solidFill>
                      <a:srgbClr val="18365D"/>
                    </a:solidFill>
                  </a:tcPr>
                </a:tc>
              </a:tr>
              <a:tr h="777240"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57969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文字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正文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1 Introduction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57970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文字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正文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In 2012, a Higgs boson (H) with a mass of 12…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57972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图片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正文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Figure 1: Feynman diagram for a BSM decay of…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58013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公式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正文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AMS = sqrt 2 [(S + B) ln (1 + frac SB) - S].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486400"/>
            <a:ext cx="11018520" cy="658368"/>
          </a:xfrm>
          <a:prstGeom prst="roundRect">
            <a:avLst/>
          </a:prstGeom>
          <a:solidFill>
            <a:srgbClr val="E9F1FB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关键点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这一步不是让模型去“理解全文结构”，而是把解析结果经过一组明确规则，整理成可检查、可回溯的章节树和页面片段树。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606A7A"/>
                </a:solidFill>
                <a:latin typeface="Microsoft YaHei"/>
              </a:rPr>
              <a:t>参考：Bin Wang et al. (2024), MinerU: An Open-Source Solution for Precise Document Content Extraction; Jiawei Wang et al. (2024), Detect-Order-Construct: A Tree Construction based Approach for Hierarchical Document Structure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8365D"/>
                </a:solidFill>
                <a:latin typeface="Microsoft YaHei"/>
              </a:rPr>
              <a:t>7. 第三步：清洗文字，并自动检查质量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064240" cy="36576"/>
          </a:xfrm>
          <a:prstGeom prst="rect">
            <a:avLst/>
          </a:prstGeom>
          <a:solidFill>
            <a:srgbClr val="2A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606A7A"/>
                </a:solidFill>
                <a:latin typeface="Microsoft YaHei"/>
              </a:rPr>
              <a:t>这里专门处理空格断裂、引用残留和公式残留。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356616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主要清洗规则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去掉 HTML 标签、控制字符和奇怪空白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数字拼回去：1 0 0 -&gt; 100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字母拼回去：G e V -&gt; GeV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去掉正文里的引用残留： [1–3] / Ref. [37]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把常见 LaTeX 命令改写成可读文字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修正常见解析残留：centerofmass -&gt; center-of-mass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把 frac S B 这类残留整理成 (S) / (B)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像 1 0 ^ { - 8 } 这样的残留，本质上是数学符号被拆散了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53312"/>
            <a:ext cx="3337560" cy="2148840"/>
          </a:xfrm>
          <a:prstGeom prst="roundRect">
            <a:avLst/>
          </a:prstGeom>
          <a:solidFill>
            <a:srgbClr val="FCEEEE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Consolas"/>
              </a:rPr>
              <a:t>例 1：清洗前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In 2012, a Higgs boson $\mathrm { (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H ) }$ with a mass of $1 2 5 \mathrm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{ G e V }$ was discovered by the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ATLAS and CMS experiments [1–3] at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the CERN LHC. Since its discovery,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both collaborations have performed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precision measurements of the spin,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parity,…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353312"/>
            <a:ext cx="3337560" cy="2148840"/>
          </a:xfrm>
          <a:prstGeom prst="roundRect">
            <a:avLst/>
          </a:prstGeom>
          <a:solidFill>
            <a:srgbClr val="EAF6F1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Consolas"/>
              </a:rPr>
              <a:t>例 1：清洗后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In 2012, a Higgs boson (H) with a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mass of 125 GeV was discovered by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the ATLAS and CMS experiments at the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CERN LHC. Since its discovery, both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collaborations have performed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precision measurements of the spin,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parity, width, and couplings of the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Higgs boson…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657600"/>
            <a:ext cx="3337560" cy="1783080"/>
          </a:xfrm>
          <a:prstGeom prst="roundRect">
            <a:avLst/>
          </a:prstGeom>
          <a:solidFill>
            <a:srgbClr val="FCF5E5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Consolas"/>
              </a:rPr>
              <a:t>例 2：当前残余问题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The particle-flow algorithm aims to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reconstruct and identify each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individual particle in an event,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with an optimized combination of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information from the various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elements of the CMS detector. The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energy of photons is mea…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3657600"/>
            <a:ext cx="3337560" cy="1783080"/>
          </a:xfrm>
          <a:prstGeom prst="roundRect">
            <a:avLst/>
          </a:prstGeom>
          <a:solidFill>
            <a:srgbClr val="E9F1FB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Consolas"/>
              </a:rPr>
              <a:t>例 3：公式整理后的样子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原始公式: $$ { \mathrm { A M S } } = {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\sqrt { 2 \left[ \left( S + B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\right) \ln \left( 1 + { \frac { S }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{ B } } \right) - S \right] } } . $$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---- 进入正文后的样子: In order to maximize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the sensitivity of the analysis,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events are categorized according to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the output of the 4-photon BDT. The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categorization is optimized by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maximizing the approximate mean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significance (AMS) over all possible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cat…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5623560"/>
            <a:ext cx="6903720" cy="713232"/>
          </a:xfrm>
          <a:prstGeom prst="roundRect">
            <a:avLst/>
          </a:prstGeom>
          <a:solidFill>
            <a:srgbClr val="E9F1FB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自动检查是怎么做的</a:t>
            </a:r>
          </a:p>
          <a:p>
            <a:pPr/>
            <a:r>
              <a:rPr sz="1200">
                <a:solidFill>
                  <a:srgbClr val="232B3C"/>
                </a:solidFill>
                <a:latin typeface="Microsoft YaHei"/>
              </a:rPr>
              <a:t>系统会自动扫描可检索正文里的残余噪声。当前这篇论文仍有 6 处片段级问题、3 处页面片段级问题，所以还需要继续清理。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8365D"/>
                </a:solidFill>
                <a:latin typeface="Microsoft YaHei"/>
              </a:rPr>
              <a:t>8. 第四步：把页面片段重组成可检索片段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064240" cy="36576"/>
          </a:xfrm>
          <a:prstGeom prst="rect">
            <a:avLst/>
          </a:prstGeom>
          <a:solidFill>
            <a:srgbClr val="2A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606A7A"/>
                </a:solidFill>
                <a:latin typeface="Microsoft YaHei"/>
              </a:rPr>
              <a:t>这里也回答：为什么不会被切成半句话。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1828800" cy="960120"/>
          </a:xfrm>
          <a:prstGeom prst="roundRect">
            <a:avLst/>
          </a:prstGeom>
          <a:solidFill>
            <a:srgbClr val="E9F1FB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/>
            <a:r>
              <a:rPr sz="1500" b="1">
                <a:solidFill>
                  <a:srgbClr val="18365D"/>
                </a:solidFill>
                <a:latin typeface="Microsoft YaHei"/>
              </a:rPr>
              <a:t>输入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可用的正文片段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排除参考文献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508760"/>
            <a:ext cx="1828800" cy="960120"/>
          </a:xfrm>
          <a:prstGeom prst="roundRect">
            <a:avLst/>
          </a:prstGeom>
          <a:solidFill>
            <a:srgbClr val="EAF6F1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/>
            <a:r>
              <a:rPr sz="1500" b="1">
                <a:solidFill>
                  <a:srgbClr val="18365D"/>
                </a:solidFill>
                <a:latin typeface="Microsoft YaHei"/>
              </a:rPr>
              <a:t>线性整理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正文直接进入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公式先变成简短说明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508760"/>
            <a:ext cx="1828800" cy="960120"/>
          </a:xfrm>
          <a:prstGeom prst="roundRect">
            <a:avLst/>
          </a:prstGeom>
          <a:solidFill>
            <a:srgbClr val="FCF5E5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/>
            <a:r>
              <a:rPr sz="1500" b="1">
                <a:solidFill>
                  <a:srgbClr val="18365D"/>
                </a:solidFill>
                <a:latin typeface="Microsoft YaHei"/>
              </a:rPr>
              <a:t>合并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看前后是不是同一句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必要时拼回去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508760"/>
            <a:ext cx="1828800" cy="960120"/>
          </a:xfrm>
          <a:prstGeom prst="roundRect">
            <a:avLst/>
          </a:prstGeom>
          <a:solidFill>
            <a:srgbClr val="FCEEEE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/>
            <a:r>
              <a:rPr sz="1500" b="1">
                <a:solidFill>
                  <a:srgbClr val="18365D"/>
                </a:solidFill>
                <a:latin typeface="Microsoft YaHei"/>
              </a:rPr>
              <a:t>切分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尽量按句子切开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过长时再细分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1508760"/>
            <a:ext cx="2240280" cy="960120"/>
          </a:xfrm>
          <a:prstGeom prst="roundRect">
            <a:avLst/>
          </a:prstGeom>
          <a:solidFill>
            <a:srgbClr val="E9F1FB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/>
            <a:r>
              <a:rPr sz="1500" b="1">
                <a:solidFill>
                  <a:srgbClr val="18365D"/>
                </a:solidFill>
                <a:latin typeface="Microsoft YaHei"/>
              </a:rPr>
              <a:t>输出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整节概览 / 局部片段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图表上下文 / 公式上下文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31720" y="1984248"/>
            <a:ext cx="228600" cy="0"/>
          </a:xfrm>
          <a:prstGeom prst="line">
            <a:avLst/>
          </a:prstGeom>
          <a:ln w="27940">
            <a:solidFill>
              <a:srgbClr val="2A6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1984248"/>
            <a:ext cx="228600" cy="0"/>
          </a:xfrm>
          <a:prstGeom prst="line">
            <a:avLst/>
          </a:prstGeom>
          <a:ln w="27940">
            <a:solidFill>
              <a:srgbClr val="2A6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46520" y="1984248"/>
            <a:ext cx="228600" cy="0"/>
          </a:xfrm>
          <a:prstGeom prst="line">
            <a:avLst/>
          </a:prstGeom>
          <a:ln w="27940">
            <a:solidFill>
              <a:srgbClr val="2A6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503920" y="1984248"/>
            <a:ext cx="228600" cy="0"/>
          </a:xfrm>
          <a:prstGeom prst="line">
            <a:avLst/>
          </a:prstGeom>
          <a:ln w="27940">
            <a:solidFill>
              <a:srgbClr val="2A6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2788920"/>
            <a:ext cx="36576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重组规则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每个片段默认控制在大约 2400 个字符以内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如果整章不长，会先保留一份整节概览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局部正文片段会带一点点重叠，避免信息在边界处断掉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图片和表格会连同前后说明一起单独保留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公式会保留前后解释文字，而不是把整段公式硬塞进正文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788920"/>
            <a:ext cx="361188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为什么不会切成半句话/半个词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先按段落和句号切开，而不是直接按字符数硬砍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如果一句话还是太长，再继续往下细分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切开后的词会再重新拼成正常字符串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不会直接按字符数硬砍，所以不会出现半个英文单词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系统还会尽量避开 -, /, = 这类容易把式子切坏的位置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788920"/>
            <a:ext cx="3017520" cy="3154680"/>
          </a:xfrm>
          <a:prstGeom prst="roundRect">
            <a:avLst/>
          </a:prstGeom>
          <a:solidFill>
            <a:srgbClr val="EAF6F1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Consolas"/>
              </a:rPr>
              <a:t>实际片段示例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In order to maximize the sensitivity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of the analysis, events are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categorized according to the output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of the 4-photon BDT. The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categorization is optimized by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maximizing the approximate mean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significance (AMS) over all possible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categories in a window covering the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region: 115 &lt; m γ γ γ γ &lt; 135 GeV.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In particular, AMS is computed for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each category, and the total AMS,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defined as the sum in quadrature of</a:t>
            </a:r>
          </a:p>
          <a:p>
            <a:pPr/>
            <a:r>
              <a:rPr sz="1100">
                <a:solidFill>
                  <a:srgbClr val="232B3C"/>
                </a:solidFill>
                <a:latin typeface="Consolas"/>
              </a:rPr>
              <a:t>the AMS of each c…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8365D"/>
                </a:solidFill>
                <a:latin typeface="Microsoft YaHei"/>
              </a:rPr>
              <a:t>9. 第五步：用户检索时会发生什么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064240" cy="36576"/>
          </a:xfrm>
          <a:prstGeom prst="rect">
            <a:avLst/>
          </a:prstGeom>
          <a:solidFill>
            <a:srgbClr val="2A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606A7A"/>
                </a:solidFill>
                <a:latin typeface="Microsoft YaHei"/>
              </a:rPr>
              <a:t>先找命中的片段，再把图和上下文带出来。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98448"/>
            <a:ext cx="3794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当前检索方式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先把检索词整理成适合搜索的形式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分别在论文卡片、正文片段、公式和图片说明里查找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排序时优先把正文片段放前面，图表和公式上下文放后面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如果命中的是图片或公式，还会自动带上前后说明文字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当前先用传统关键词检索，向量检索以后再接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325880"/>
            <a:ext cx="3703320" cy="1965960"/>
          </a:xfrm>
          <a:prstGeom prst="roundRect">
            <a:avLst/>
          </a:prstGeom>
          <a:solidFill>
            <a:srgbClr val="E9F1FB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示例检索词：四光子、Higgs、轻赝标量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命中的正文片段：第 2 页，类型是“图片表格上下文”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Multiple searches for exotic decays of the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Higgs boson have been performed using the 8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TeV and 13 TeV data collected at the LHC.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Decays of the type Haa., where a is a light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pseudoscalar boson, are well motivated in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various BSM scenarios, in particul…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325880"/>
            <a:ext cx="2926080" cy="1965960"/>
          </a:xfrm>
          <a:prstGeom prst="roundRect">
            <a:avLst/>
          </a:prstGeom>
          <a:solidFill>
            <a:srgbClr val="EAF6F1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图片命中示例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第 2 页的图片说明：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Figure 1: Feynman diagram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for a BSM decay of the Higgs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boson into a pair of light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pseudoscalar bosons that</a:t>
            </a:r>
          </a:p>
          <a:p>
            <a:pPr/>
            <a:r>
              <a:rPr sz="1100">
                <a:solidFill>
                  <a:srgbClr val="232B3C"/>
                </a:solidFill>
                <a:latin typeface="Microsoft YaHei"/>
              </a:rPr>
              <a:t>subsequently decay int…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794760"/>
            <a:ext cx="2011680" cy="868680"/>
          </a:xfrm>
          <a:prstGeom prst="roundRect">
            <a:avLst/>
          </a:prstGeom>
          <a:solidFill>
            <a:srgbClr val="E9F1FB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/>
            <a:r>
              <a:rPr sz="1500" b="1">
                <a:solidFill>
                  <a:srgbClr val="18365D"/>
                </a:solidFill>
                <a:latin typeface="Microsoft YaHei"/>
              </a:rPr>
              <a:t>检索词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用户输入的问题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或关键词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3794760"/>
            <a:ext cx="2011680" cy="868680"/>
          </a:xfrm>
          <a:prstGeom prst="roundRect">
            <a:avLst/>
          </a:prstGeom>
          <a:solidFill>
            <a:srgbClr val="EAF6F1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/>
            <a:r>
              <a:rPr sz="1500" b="1">
                <a:solidFill>
                  <a:srgbClr val="18365D"/>
                </a:solidFill>
                <a:latin typeface="Microsoft YaHei"/>
              </a:rPr>
              <a:t>查找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论文卡片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正文片段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公式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图片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3794760"/>
            <a:ext cx="2194560" cy="868680"/>
          </a:xfrm>
          <a:prstGeom prst="roundRect">
            <a:avLst/>
          </a:prstGeom>
          <a:solidFill>
            <a:srgbClr val="FCF5E5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/>
            <a:r>
              <a:rPr sz="1500" b="1">
                <a:solidFill>
                  <a:srgbClr val="18365D"/>
                </a:solidFill>
                <a:latin typeface="Microsoft YaHei"/>
              </a:rPr>
              <a:t>排序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先给正文证据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再给图和公式说明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3794760"/>
            <a:ext cx="2331720" cy="868680"/>
          </a:xfrm>
          <a:prstGeom prst="roundRect">
            <a:avLst/>
          </a:prstGeom>
          <a:solidFill>
            <a:srgbClr val="FCEEEE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/>
            <a:r>
              <a:rPr sz="1500" b="1">
                <a:solidFill>
                  <a:srgbClr val="18365D"/>
                </a:solidFill>
                <a:latin typeface="Microsoft YaHei"/>
              </a:rPr>
              <a:t>证据包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可引用的文字证据</a:t>
            </a:r>
          </a:p>
          <a:p>
            <a:r>
              <a:rPr sz="1100">
                <a:solidFill>
                  <a:srgbClr val="232B3C"/>
                </a:solidFill>
                <a:latin typeface="Microsoft YaHei"/>
              </a:rPr>
              <a:t>加上下文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17520" y="4224528"/>
            <a:ext cx="228600" cy="0"/>
          </a:xfrm>
          <a:prstGeom prst="line">
            <a:avLst/>
          </a:prstGeom>
          <a:ln w="27940">
            <a:solidFill>
              <a:srgbClr val="2A6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49240" y="4224528"/>
            <a:ext cx="228600" cy="0"/>
          </a:xfrm>
          <a:prstGeom prst="line">
            <a:avLst/>
          </a:prstGeom>
          <a:ln w="27940">
            <a:solidFill>
              <a:srgbClr val="2A6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63840" y="4224528"/>
            <a:ext cx="228600" cy="0"/>
          </a:xfrm>
          <a:prstGeom prst="line">
            <a:avLst/>
          </a:prstGeom>
          <a:ln w="27940">
            <a:solidFill>
              <a:srgbClr val="2A6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" y="4983480"/>
            <a:ext cx="9784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为什么这一步已经很有价值</a:t>
            </a:r>
          </a:p>
          <a:p>
            <a:pPr/>
            <a:r>
              <a:rPr sz="1200">
                <a:solidFill>
                  <a:srgbClr val="232B3C"/>
                </a:solidFill>
                <a:latin typeface="Microsoft YaHei"/>
              </a:rPr>
              <a:t>因为系统已经把正文、图片说明、公式说明和参考文献分开了。即便还只是关键词检索，命中的内容也比原始 PDF 搜索更接近真正能引用的证据。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606A7A"/>
                </a:solidFill>
                <a:latin typeface="Microsoft YaHei"/>
              </a:rPr>
              <a:t>参考：Jiasheng Zhang et al. (2024), LitFM: A Retrieval Augmented Structure-aware Foundation Model For Citation Graphs; Yuntong Hu et al. (2025), CG-RAG: Research Question Answering by Citation Graph Retrieval-Augmented LLMs.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8365D"/>
                </a:solidFill>
                <a:latin typeface="Microsoft YaHei"/>
              </a:rPr>
              <a:t>10. 只靠关键词还不够：还要把相关论文串起来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064240" cy="36576"/>
          </a:xfrm>
          <a:prstGeom prst="rect">
            <a:avLst/>
          </a:prstGeom>
          <a:solidFill>
            <a:srgbClr val="2A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606A7A"/>
                </a:solidFill>
                <a:latin typeface="Microsoft YaHei"/>
              </a:rPr>
              <a:t>找到一篇之后，还要知道它周围是谁。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98448"/>
            <a:ext cx="397763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两种边的直觉理解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第一种：两篇论文引用了很多相同的前人工作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第二种：很多后来的论文总是同时提到它们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前者更像“参考文献口味相似”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后者更像“后人把它们看成同一簇主题”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做综述时，这两种边都很有价值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09160" y="1325880"/>
          <a:ext cx="64922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060"/>
                <a:gridCol w="1623060"/>
                <a:gridCol w="1623060"/>
                <a:gridCol w="1623060"/>
              </a:tblGrid>
              <a:tr h="754380">
                <a:tc>
                  <a:txBody>
                    <a:bodyPr wrap="square" anchor="t" lIns="45720" rIns="4572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相关论文</a:t>
                      </a:r>
                    </a:p>
                  </a:txBody>
                  <a:tcPr>
                    <a:solidFill>
                      <a:srgbClr val="18365D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关系</a:t>
                      </a:r>
                    </a:p>
                  </a:txBody>
                  <a:tcPr>
                    <a:solidFill>
                      <a:srgbClr val="18365D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共同条目</a:t>
                      </a:r>
                    </a:p>
                  </a:txBody>
                  <a:tcPr>
                    <a:solidFill>
                      <a:srgbClr val="18365D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题目</a:t>
                      </a:r>
                    </a:p>
                  </a:txBody>
                  <a:tcPr>
                    <a:solidFill>
                      <a:srgbClr val="18365D"/>
                    </a:solidFill>
                  </a:tcPr>
                </a:tc>
              </a:tr>
              <a:tr h="754380"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1709317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共参考文献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Search for an exotic decay of the Higgs boson to a pair of li…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1744267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共参考文献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Search for light pseudoscalar boson pairs produced from decay…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1674926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共参考文献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Search for an exotic decay of the Higgs boson to a pair of li…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2151007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共被引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Search for exotic Higgs boson decays $H \to \mathcal{A}\mathc…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1744267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共被引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Search for light pseudoscalar boson pairs produced from decay…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13232" y="5532120"/>
            <a:ext cx="10789920" cy="658368"/>
          </a:xfrm>
          <a:prstGeom prst="roundRect">
            <a:avLst/>
          </a:prstGeom>
          <a:solidFill>
            <a:srgbClr val="E9F1FB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更直观的理解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检索先找到一篇明显相关的论文，论文关系层再把它周围主题相近的论文一起捞出来，于是专题梳理不再只靠关键词穷举。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606A7A"/>
                </a:solidFill>
                <a:latin typeface="Microsoft YaHei"/>
              </a:rPr>
              <a:t>参考：Darren Edge et al. (2024), From Local to Global: A Graph RAG Approach to Query-Focused Summarization; Haoyu Han et al. (2025), Retrieval-Augmented Generation with Graphs (GraphRAG); Yilin Xiao et al. (2025), GraphRAG-Bench: Challenging Domain-Specific Reasoning for Evaluating Graph Retrieval-Augmented Generation.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8365D"/>
                </a:solidFill>
                <a:latin typeface="Microsoft YaHei"/>
              </a:rPr>
              <a:t>11. 哪些部分完全靠规则，哪些部分以后再接大模型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064240" cy="36576"/>
          </a:xfrm>
          <a:prstGeom prst="rect">
            <a:avLst/>
          </a:prstGeom>
          <a:solidFill>
            <a:srgbClr val="2A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606A7A"/>
                </a:solidFill>
                <a:latin typeface="Microsoft YaHei"/>
              </a:rPr>
              <a:t>把边界讲清楚，后面系统才容易维护。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56235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</a:tblGrid>
              <a:tr h="646611">
                <a:tc>
                  <a:txBody>
                    <a:bodyPr wrap="square" anchor="t" lIns="45720" rIns="4572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步骤</a:t>
                      </a:r>
                    </a:p>
                  </a:txBody>
                  <a:tcPr>
                    <a:solidFill>
                      <a:srgbClr val="18365D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当前是否用大模型</a:t>
                      </a:r>
                    </a:p>
                  </a:txBody>
                  <a:tcPr>
                    <a:solidFill>
                      <a:srgbClr val="18365D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当前输出</a:t>
                      </a:r>
                    </a:p>
                  </a:txBody>
                  <a:tcPr>
                    <a:solidFill>
                      <a:srgbClr val="18365D"/>
                    </a:solidFill>
                  </a:tcPr>
                </a:tc>
              </a:tr>
              <a:tr h="646611"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整理文献信息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论文卡片、作者、引用关系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整理全文结构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章节、页面片段、图片、公式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清洗文字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更干净的正文和清洗标记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重组检索片段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整节概览、局部片段、图表上下文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检索和论文关系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命中的证据和相近论文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自动质量检查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是否通过当前质量门槛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325880"/>
          <a:ext cx="51663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905256">
                <a:tc>
                  <a:txBody>
                    <a:bodyPr wrap="square" anchor="t" lIns="45720" rIns="4572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以后可接的大模型环节</a:t>
                      </a:r>
                    </a:p>
                  </a:txBody>
                  <a:tcPr>
                    <a:solidFill>
                      <a:srgbClr val="15917B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输入</a:t>
                      </a:r>
                    </a:p>
                  </a:txBody>
                  <a:tcPr>
                    <a:solidFill>
                      <a:srgbClr val="15917B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预期输出</a:t>
                      </a:r>
                    </a:p>
                  </a:txBody>
                  <a:tcPr>
                    <a:solidFill>
                      <a:srgbClr val="15917B"/>
                    </a:solidFill>
                  </a:tcPr>
                </a:tc>
              </a:tr>
              <a:tr h="905256"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检索意图整理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用户问题和范围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一组检索关键词和筛选范围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证据压缩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命中的正文片段和相关论文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按主题整理好的证据卡片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综述初稿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证据卡片和论文清单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按章节展开的初稿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思路梳理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相关工作矩阵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45720" rIns="45720"/>
                    <a:lstStyle/>
                    <a:p>
                      <a:r>
                        <a:rPr sz="1100" b="0">
                          <a:solidFill>
                            <a:srgbClr val="232B3C"/>
                          </a:solidFill>
                          <a:latin typeface="Microsoft YaHei"/>
                        </a:rPr>
                        <a:t>研究空档、对比和候选方向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559552"/>
            <a:ext cx="10881360" cy="658368"/>
          </a:xfrm>
          <a:prstGeom prst="roundRect">
            <a:avLst/>
          </a:prstGeom>
          <a:solidFill>
            <a:srgbClr val="EAF6F1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原则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大模型负责读证据、写总结、产出候选草稿；但不直接决定底层入库、清洗和建立论文关系的逻辑。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8365D"/>
                </a:solidFill>
                <a:latin typeface="Microsoft YaHei"/>
              </a:rPr>
              <a:t>12. 现在做到哪一步了，下一步该怎么走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064240" cy="36576"/>
          </a:xfrm>
          <a:prstGeom prst="rect">
            <a:avLst/>
          </a:prstGeom>
          <a:solidFill>
            <a:srgbClr val="2A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606A7A"/>
                </a:solidFill>
                <a:latin typeface="Microsoft YaHei"/>
              </a:rPr>
              <a:t>先把底座讲清楚，再谈后续扩量。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463040" cy="1051560"/>
          </a:xfrm>
          <a:prstGeom prst="roundRect">
            <a:avLst/>
          </a:prstGeom>
          <a:solidFill>
            <a:srgbClr val="E9F1FB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400" b="1">
                <a:solidFill>
                  <a:srgbClr val="18365D"/>
                </a:solidFill>
                <a:latin typeface="Microsoft YaHei"/>
              </a:rPr>
              <a:t>101</a:t>
            </a:r>
          </a:p>
          <a:p>
            <a:r>
              <a:rPr sz="1100">
                <a:solidFill>
                  <a:srgbClr val="606A7A"/>
                </a:solidFill>
                <a:latin typeface="Microsoft YaHei"/>
              </a:rPr>
              <a:t>论文数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417320"/>
            <a:ext cx="1554480" cy="1051560"/>
          </a:xfrm>
          <a:prstGeom prst="roundRect">
            <a:avLst/>
          </a:prstGeom>
          <a:solidFill>
            <a:srgbClr val="EAF6F1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400" b="1">
                <a:solidFill>
                  <a:srgbClr val="18365D"/>
                </a:solidFill>
                <a:latin typeface="Microsoft YaHei"/>
              </a:rPr>
              <a:t>100</a:t>
            </a:r>
          </a:p>
          <a:p>
            <a:r>
              <a:rPr sz="1100">
                <a:solidFill>
                  <a:srgbClr val="606A7A"/>
                </a:solidFill>
                <a:latin typeface="Microsoft YaHei"/>
              </a:rPr>
              <a:t>全文数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417320"/>
            <a:ext cx="1463040" cy="1051560"/>
          </a:xfrm>
          <a:prstGeom prst="roundRect">
            <a:avLst/>
          </a:prstGeom>
          <a:solidFill>
            <a:srgbClr val="FCF5E5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400" b="1">
                <a:solidFill>
                  <a:srgbClr val="18365D"/>
                </a:solidFill>
                <a:latin typeface="Microsoft YaHei"/>
              </a:rPr>
              <a:t>3,703</a:t>
            </a:r>
          </a:p>
          <a:p>
            <a:r>
              <a:rPr sz="1100">
                <a:solidFill>
                  <a:srgbClr val="606A7A"/>
                </a:solidFill>
                <a:latin typeface="Microsoft YaHei"/>
              </a:rPr>
              <a:t>检索片段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417320"/>
            <a:ext cx="1463040" cy="1051560"/>
          </a:xfrm>
          <a:prstGeom prst="roundRect">
            <a:avLst/>
          </a:prstGeom>
          <a:solidFill>
            <a:srgbClr val="FCEEEE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400" b="1">
                <a:solidFill>
                  <a:srgbClr val="18365D"/>
                </a:solidFill>
                <a:latin typeface="Microsoft YaHei"/>
              </a:rPr>
              <a:t>768</a:t>
            </a:r>
          </a:p>
          <a:p>
            <a:r>
              <a:rPr sz="1100">
                <a:solidFill>
                  <a:srgbClr val="606A7A"/>
                </a:solidFill>
                <a:latin typeface="Microsoft YaHei"/>
              </a:rPr>
              <a:t>图片表格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417320"/>
            <a:ext cx="1600200" cy="1051560"/>
          </a:xfrm>
          <a:prstGeom prst="roundRect">
            <a:avLst/>
          </a:prstGeom>
          <a:solidFill>
            <a:srgbClr val="E9F1FB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400" b="1">
                <a:solidFill>
                  <a:srgbClr val="18365D"/>
                </a:solidFill>
                <a:latin typeface="Microsoft YaHei"/>
              </a:rPr>
              <a:t>227</a:t>
            </a:r>
          </a:p>
          <a:p>
            <a:r>
              <a:rPr sz="1100">
                <a:solidFill>
                  <a:srgbClr val="606A7A"/>
                </a:solidFill>
                <a:latin typeface="Microsoft YaHei"/>
              </a:rPr>
              <a:t>公式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20" y="1417320"/>
            <a:ext cx="1691640" cy="1051560"/>
          </a:xfrm>
          <a:prstGeom prst="roundRect">
            <a:avLst/>
          </a:prstGeom>
          <a:solidFill>
            <a:srgbClr val="EAF6F1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400" b="1">
                <a:solidFill>
                  <a:srgbClr val="18365D"/>
                </a:solidFill>
                <a:latin typeface="Microsoft YaHei"/>
              </a:rPr>
              <a:t>87/100</a:t>
            </a:r>
          </a:p>
          <a:p>
            <a:r>
              <a:rPr sz="1100">
                <a:solidFill>
                  <a:srgbClr val="606A7A"/>
                </a:solidFill>
                <a:latin typeface="Microsoft YaHei"/>
              </a:rPr>
              <a:t>可继续推进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43200"/>
            <a:ext cx="48920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现在已经可以说它是什么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它已经不是一个只会解析 PDF 的小工具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它已经能把文献信息、全文片段、图片、公式和引用关系放进同一套库里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它已经有稳定的文字清洗和片段重组流程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它已经能支持检索和专题梳理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它已经能顺着引用关系找到相关论文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2743200"/>
            <a:ext cx="56692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最合理的下一步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先把文献信息层扩到更大规模，不要一开始就上 100k 全文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全文层继续只做高价值子集，先把证据检索跑顺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之后再加更细的相似度和向量层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最后再把综述写作和研究辅助接到大模型应用层</a:t>
            </a:r>
          </a:p>
          <a:p>
            <a:pPr/>
            <a:r>
              <a:rPr sz="1400">
                <a:solidFill>
                  <a:srgbClr val="232B3C"/>
                </a:solidFill>
                <a:latin typeface="Microsoft YaHei"/>
              </a:rPr>
              <a:t>对外展示时，核心信息是：底层论文资料库已经成形，后面还能继续长能力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943600"/>
            <a:ext cx="10652760" cy="548640"/>
          </a:xfrm>
          <a:prstGeom prst="roundRect">
            <a:avLst/>
          </a:prstGeom>
          <a:solidFill>
            <a:srgbClr val="E9F1FB"/>
          </a:solidFill>
          <a:ln>
            <a:solidFill>
              <a:srgbClr val="D2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600" b="1">
                <a:solidFill>
                  <a:srgbClr val="18365D"/>
                </a:solidFill>
                <a:latin typeface="Microsoft YaHei"/>
              </a:rPr>
              <a:t>建议的一句话路线</a:t>
            </a:r>
          </a:p>
          <a:p>
            <a:pPr/>
            <a:r>
              <a:rPr sz="1300">
                <a:solidFill>
                  <a:srgbClr val="232B3C"/>
                </a:solidFill>
                <a:latin typeface="Microsoft YaHei"/>
              </a:rPr>
              <a:t>先做“可扩量的文献信息层 + 小规模高质量全文证据层”，再做向量层和大模型应用层。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